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通过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5</c:v>
                </c:pt>
                <c:pt idx="3">
                  <c:v>5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失败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Sheet1!$A$2:$A$7</c:f>
              <c:strCache>
                <c:ptCount val="6"/>
                <c:pt idx="0">
                  <c:v>R1</c:v>
                </c:pt>
                <c:pt idx="1">
                  <c:v>R2</c:v>
                </c:pt>
                <c:pt idx="2">
                  <c:v>R3</c:v>
                </c:pt>
                <c:pt idx="3">
                  <c:v>R4</c:v>
                </c:pt>
                <c:pt idx="4">
                  <c:v>R5</c:v>
                </c:pt>
                <c:pt idx="5">
                  <c:v>R6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latin typeface="微软雅黑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块数</c:v>
                </c:pt>
              </c:strCache>
            </c:strRef>
          </c:tx>
          <c:spPr>
            <a:solidFill>
              <a:srgbClr val="2E6DA4"/>
            </a:solidFill>
          </c:spPr>
          <c:cat>
            <c:strRef>
              <c:f>Sheet1!$A$2:$A$4</c:f>
              <c:strCache>
                <c:ptCount val="3"/>
                <c:pt idx="0">
                  <c:v>&lt;800
(章末)</c:v>
                </c:pt>
                <c:pt idx="1">
                  <c:v>800~1200
(达标)</c:v>
                </c:pt>
                <c:pt idx="2">
                  <c:v>&gt;1200
(超限)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270</c:v>
                </c:pt>
                <c:pt idx="2">
                  <c:v>0</c:v>
                </c:pt>
              </c:numCache>
            </c:numRef>
          </c:val>
        </c:ser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2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块数</c:v>
                </c:pt>
              </c:strCache>
            </c:strRef>
          </c:tx>
          <c:spPr>
            <a:solidFill>
              <a:srgbClr val="1B2F4B"/>
            </a:solidFill>
          </c:spPr>
          <c:cat>
            <c:strRef>
              <c:f>Sheet1!$A$2:$A$13</c:f>
              <c:strCache>
                <c:ptCount val="12"/>
                <c:pt idx="0">
                  <c:v>计算机系统性能评价与性能分析</c:v>
                </c:pt>
                <c:pt idx="1">
                  <c:v>多核处理结构</c:v>
                </c:pt>
                <c:pt idx="2">
                  <c:v>并行编程基础</c:v>
                </c:pt>
                <c:pt idx="3">
                  <c:v>指令流水线</c:v>
                </c:pt>
                <c:pt idx="4">
                  <c:v>运算器设计</c:v>
                </c:pt>
                <c:pt idx="5">
                  <c:v>计算机启动过程分析</c:v>
                </c:pt>
                <c:pt idx="6">
                  <c:v>计算机总线接口技术</c:v>
                </c:pt>
                <c:pt idx="7">
                  <c:v>计算机组成原理和结构</c:v>
                </c:pt>
                <c:pt idx="8">
                  <c:v>软硬件协同</c:v>
                </c:pt>
                <c:pt idx="9">
                  <c:v>特权指令系统</c:v>
                </c:pt>
                <c:pt idx="10">
                  <c:v>指令系统</c:v>
                </c:pt>
                <c:pt idx="11">
                  <c:v>引言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56</c:v>
                </c:pt>
                <c:pt idx="1">
                  <c:v>24</c:v>
                </c:pt>
                <c:pt idx="2">
                  <c:v>16</c:v>
                </c:pt>
                <c:pt idx="3">
                  <c:v>19</c:v>
                </c:pt>
                <c:pt idx="4">
                  <c:v>23</c:v>
                </c:pt>
                <c:pt idx="5">
                  <c:v>20</c:v>
                </c:pt>
                <c:pt idx="6">
                  <c:v>15</c:v>
                </c:pt>
                <c:pt idx="7">
                  <c:v>22</c:v>
                </c:pt>
                <c:pt idx="8">
                  <c:v>18</c:v>
                </c:pt>
                <c:pt idx="9">
                  <c:v>18</c:v>
                </c:pt>
                <c:pt idx="10">
                  <c:v>19</c:v>
                </c:pt>
                <c:pt idx="11">
                  <c:v>27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1B2F4B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950">
          <a:latin typeface="微软雅黑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有效命中</c:v>
                </c:pt>
              </c:strCache>
            </c:strRef>
          </c:tx>
          <c:spPr>
            <a:solidFill>
              <a:srgbClr val="E88B2E"/>
            </a:solidFill>
          </c:spPr>
          <c:cat>
            <c:strRef>
              <c:f>Sheet1!$A$2:$A$4</c:f>
              <c:strCache>
                <c:ptCount val="3"/>
                <c:pt idx="0">
                  <c:v>LIKE 无索引</c:v>
                </c:pt>
                <c:pt idx="1">
                  <c:v>FTS5 unicode61</c:v>
                </c:pt>
                <c:pt idx="2">
                  <c:v>FTS5 trigram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0</c:v>
                </c:pt>
                <c:pt idx="2">
                  <c:v>3</c:v>
                </c:pt>
              </c:numCache>
            </c:numRef>
          </c:val>
        </c:ser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60020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E88B2E"/>
                </a:solidFill>
                <a:latin typeface="微软雅黑"/>
                <a:ea typeface="微软雅黑"/>
              </a:rPr>
              <a:t>ARCH-TUTOR  ·  系统展示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计算机体系结构课程
知识库智能问答系统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3584448"/>
            <a:ext cx="2011680" cy="41148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84048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>
                <a:solidFill>
                  <a:srgbClr val="C8D8E8"/>
                </a:solidFill>
                <a:latin typeface="微软雅黑"/>
                <a:ea typeface="微软雅黑"/>
              </a:rPr>
              <a:t>基于 RAG 的教材问答 · 严格满足 R1~R6 行为约束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8B2E"/>
                </a:solidFill>
                <a:latin typeface="微软雅黑"/>
                <a:ea typeface="微软雅黑"/>
              </a:rPr>
              <a:t>277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8BCD0"/>
                </a:solidFill>
                <a:latin typeface="微软雅黑"/>
                <a:ea typeface="微软雅黑"/>
              </a:rPr>
              <a:t>知识块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8B2E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8BCD0"/>
                </a:solidFill>
                <a:latin typeface="微软雅黑"/>
                <a:ea typeface="微软雅黑"/>
              </a:rPr>
              <a:t>章节全覆盖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8B2E"/>
                </a:solidFill>
                <a:latin typeface="微软雅黑"/>
                <a:ea typeface="微软雅黑"/>
              </a:rPr>
              <a:t>90.0%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8BCD0"/>
                </a:solidFill>
                <a:latin typeface="微软雅黑"/>
                <a:ea typeface="微软雅黑"/>
              </a:rPr>
              <a:t>检索 Top-3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9834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E88B2E"/>
                </a:solidFill>
                <a:latin typeface="微软雅黑"/>
                <a:ea typeface="微软雅黑"/>
              </a:rPr>
              <a:t>30/30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5504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A8BCD0"/>
                </a:solidFill>
                <a:latin typeface="微软雅黑"/>
                <a:ea typeface="微软雅黑"/>
              </a:rPr>
              <a:t>合规核查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本次展示内容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64207"/>
            <a:ext cx="713232" cy="71323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819655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7190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2F4B"/>
                </a:solidFill>
                <a:latin typeface="微软雅黑"/>
                <a:ea typeface="微软雅黑"/>
              </a:rPr>
              <a:t>系统是什么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066543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一句话定位与核心价值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2578608"/>
            <a:ext cx="713232" cy="71323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734056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26334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2F4B"/>
                </a:solidFill>
                <a:latin typeface="微软雅黑"/>
                <a:ea typeface="微软雅黑"/>
              </a:rPr>
              <a:t>怎么用 —— 现场演示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98094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6 幕演示流程与真实输出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493008"/>
            <a:ext cx="713232" cy="71323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648456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5478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2F4B"/>
                </a:solidFill>
                <a:latin typeface="微软雅黑"/>
                <a:ea typeface="微软雅黑"/>
              </a:rPr>
              <a:t>凭什么可信 —— R1~R6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89534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六条约束的机制与验证结果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07408"/>
            <a:ext cx="713232" cy="71323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562856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4622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2F4B"/>
                </a:solidFill>
                <a:latin typeface="微软雅黑"/>
                <a:ea typeface="微软雅黑"/>
              </a:rPr>
              <a:t>做得好不好 —— 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80974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知识库、检索、合规性指标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21808"/>
            <a:ext cx="713232" cy="713232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477256"/>
            <a:ext cx="7132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537667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B2F4B"/>
                </a:solidFill>
                <a:latin typeface="微软雅黑"/>
                <a:ea typeface="微软雅黑"/>
              </a:rPr>
              <a:t>边界与展望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5724144"/>
            <a:ext cx="7315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不足、风险与后续方向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一句话定位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系统是什么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93268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73936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B2F4B"/>
                </a:solidFill>
                <a:latin typeface="微软雅黑"/>
                <a:ea typeface="微软雅黑"/>
              </a:rPr>
              <a:t>一个「只依据这本教材、每句话都能翻书核对、不知道就明说」的课程问答助手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6148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E88B2E"/>
                </a:solidFill>
                <a:latin typeface="微软雅黑"/>
                <a:ea typeface="微软雅黑"/>
              </a:rPr>
              <a:t>和「直接问 ChatGPT」的区别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00400"/>
            <a:ext cx="45720" cy="67665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23697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只答教材内容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56616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教材没有的，一律回答「教材未找到相关内容」，不编造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023360"/>
            <a:ext cx="45720" cy="676656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5993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6DA4"/>
                </a:solidFill>
                <a:latin typeface="微软雅黑"/>
                <a:ea typeface="微软雅黑"/>
              </a:rPr>
              <a:t>每句都有页码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8912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事实性陈述后附【教材 p.XX】，页码来自检索元数据，无法伪造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846320"/>
            <a:ext cx="45720" cy="676656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828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E7D32"/>
                </a:solidFill>
                <a:latin typeface="微软雅黑"/>
                <a:ea typeface="微软雅黑"/>
              </a:rPr>
              <a:t>不复制大段原文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1208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连续引用不超过 3 句，只做短句引用与转述，规避版权风险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69280"/>
            <a:ext cx="45720" cy="676656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70585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8B2E"/>
                </a:solidFill>
                <a:latin typeface="微软雅黑"/>
                <a:ea typeface="微软雅黑"/>
              </a:rPr>
              <a:t>结果可复现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035040"/>
            <a:ext cx="10607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离线模式输出确定，同一问题每次结果一致，便于验收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输入 → 处理 → 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系统能接收什么、返回什么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246120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F4B"/>
                </a:solidFill>
                <a:latin typeface="微软雅黑"/>
                <a:ea typeface="微软雅黑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57984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任意中文提问
例如：
「直接相联和组相联
有什么区别？」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69080" y="1554480"/>
            <a:ext cx="3246120" cy="4114800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79392" y="1719072"/>
            <a:ext cx="2834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F4B"/>
                </a:solidFill>
                <a:latin typeface="微软雅黑"/>
                <a:ea typeface="微软雅黑"/>
              </a:rPr>
              <a:t>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215798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① 查询预处理
    去疑问词 + 同义词扩展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98094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② FTS5 召回候选池
    topk×8（≥40 条）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9392" y="380390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③ 二次排序
    覆盖度+标题+BM25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9392" y="4626864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④ 相关性闸门
    覆盖率 &lt; 0.34 拦截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71231" y="1554480"/>
            <a:ext cx="4059936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81544" y="171907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2F4B"/>
                </a:solidFill>
                <a:latin typeface="微软雅黑"/>
                <a:ea typeface="微软雅黑"/>
              </a:rPr>
              <a:t>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2176272"/>
            <a:ext cx="41148" cy="5669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01000" y="2176272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有覆盖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45059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分点解释 + 每点附页码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18120" y="2907791"/>
            <a:ext cx="41148" cy="56692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1000" y="2907791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6DA4"/>
                </a:solidFill>
                <a:latin typeface="微软雅黑"/>
                <a:ea typeface="微软雅黑"/>
              </a:rPr>
              <a:t>术语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18211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中文(English) 双写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18120" y="3639311"/>
            <a:ext cx="41148" cy="5669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639311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C0392B"/>
                </a:solidFill>
                <a:latin typeface="微软雅黑"/>
                <a:ea typeface="微软雅黑"/>
              </a:rPr>
              <a:t>未覆盖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1363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「教材未找到相关内容」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18120" y="4370831"/>
            <a:ext cx="41148" cy="56692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4370831"/>
            <a:ext cx="1051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引用来源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4645151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末尾汇总所有页码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python demo.py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现场演示：一条命令，6 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56692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FFFFFF"/>
                </a:solidFill>
                <a:latin typeface="微软雅黑"/>
                <a:ea typeface="微软雅黑"/>
              </a:rPr>
              <a:t>$ python demo.py            # 约 1 分钟，逐步展示系统能力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59152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59152"/>
            <a:ext cx="45720" cy="96012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4871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2F4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780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知识库概览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7121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12 章、277 块、页码覆盖表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359152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359152"/>
            <a:ext cx="45720" cy="9601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24871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6DA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478024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检索演示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1152" y="2871216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3 个问题，7~13 毫秒返回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493008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93008"/>
            <a:ext cx="45720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6210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E7D32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6118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页码引用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0507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引用与真实页码逐条比对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493008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493008"/>
            <a:ext cx="45720" cy="9601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62102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C0392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31152" y="3611880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诚实性验证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4005072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教材没讲 → 明说没讲 ★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26864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4626864"/>
            <a:ext cx="45720" cy="9601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8096" y="4754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E88B2E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7457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合规性总览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13892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R1~R6 每项 5/5 PASS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4626864"/>
            <a:ext cx="5440680" cy="9601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17920" y="4626864"/>
            <a:ext cx="45720" cy="96012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19088" y="4754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B2F4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31152" y="4745736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B2F4B"/>
                </a:solidFill>
                <a:latin typeface="微软雅黑"/>
                <a:ea typeface="微软雅黑"/>
              </a:rPr>
              <a:t>总结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1152" y="5138928"/>
            <a:ext cx="4480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六条约束对应六个机制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5879592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C0392B"/>
                </a:solidFill>
                <a:latin typeface="微软雅黑"/>
                <a:ea typeface="微软雅黑"/>
              </a:rPr>
              <a:t>★ 第 4 幕是重点：它证明系统在「没有依据」时不会编造答案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第 1~2 幕 · 真实输出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演示 ①  知识库概览与检索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017520" cy="397763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第 1 幕 · 知识库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2140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教材　计算机体系结构基础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05456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页数　430 页（正文 p.37–429）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9503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章节　12 章全覆盖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1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分块　277 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57599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均值　1082.5 tokens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41648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合规　97.5% 在 800~1200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25696"/>
            <a:ext cx="2697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分词　trigram + BM25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67328" y="1554480"/>
            <a:ext cx="7863840" cy="3977639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77639" y="1700784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第 2 幕 · 检索演示（提问 → 带页码片段）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7639" y="2139696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2F4B"/>
                </a:solidFill>
                <a:latin typeface="微软雅黑"/>
                <a:ea typeface="微软雅黑"/>
              </a:rPr>
              <a:t>「直接相联和组相联有什么区别」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139696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p.279-281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139696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60520" y="24505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A5A5A"/>
                </a:solidFill>
                <a:latin typeface="微软雅黑"/>
                <a:ea typeface="微软雅黑"/>
              </a:rPr>
              <a:t>第 9 章 指令流水线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39" y="3072384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2F4B"/>
                </a:solidFill>
                <a:latin typeface="微软雅黑"/>
                <a:ea typeface="微软雅黑"/>
              </a:rPr>
              <a:t>「指令流水线的数据相关带来什么冲突」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072384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p.263-268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3072384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60520" y="338327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A5A5A"/>
                </a:solidFill>
                <a:latin typeface="微软雅黑"/>
                <a:ea typeface="微软雅黑"/>
              </a:rPr>
              <a:t>第 9 章 指令流水线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005072"/>
            <a:ext cx="45720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2F4B"/>
                </a:solidFill>
                <a:latin typeface="微软雅黑"/>
                <a:ea typeface="微软雅黑"/>
              </a:rPr>
              <a:t>「TLB 地址翻译的过程」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4005072"/>
            <a:ext cx="1234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p.104-109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4005072"/>
            <a:ext cx="1691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A5A5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43159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5A5A5A"/>
                </a:solidFill>
                <a:latin typeface="微软雅黑"/>
                <a:ea typeface="微软雅黑"/>
              </a:rPr>
              <a:t>第 3 章 特权指令系统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77639" y="4956048"/>
            <a:ext cx="7406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E88B2E"/>
                </a:solidFill>
                <a:latin typeface="微软雅黑"/>
                <a:ea typeface="微软雅黑"/>
              </a:rPr>
              <a:t>检索耗时 7~13 ms  ·  每片段自带页码与章节，可直接生成引用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第 3 幕 · 系统实际输出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演示 ③  带页码引用的真实回答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4023360"/>
          </a:xfrm>
          <a:prstGeom prst="rect">
            <a:avLst/>
          </a:prstGeom>
          <a:solidFill>
            <a:srgbClr val="F7F9FB"/>
          </a:solidFill>
          <a:ln w="12700">
            <a:solidFill>
              <a:srgbClr val="E8EF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00784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 b="1">
                <a:solidFill>
                  <a:srgbClr val="1B2F4B"/>
                </a:solidFill>
                <a:latin typeface="微软雅黑"/>
                <a:ea typeface="微软雅黑"/>
              </a:rPr>
              <a:t>问：什么是直接相联、全相联和组相联？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103120"/>
            <a:ext cx="10515600" cy="1828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3113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关键术语（保留英文原文）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59689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  高速缓存(Cache)　快表(TLB)　先进先出(FIFO)  最近最少使用(LRU)　偏移(Offset)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6265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28415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教材中的相关说明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9417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  ▪ 内存块按模运算映射到唯一 Cache 位置，冲突时只能替换 ……  【教材 p.280-281】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5993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  ▪ 访问时需将地址与 Cache 中的 Tag 比较，命中则直接访问 ……  【教材 p.279-280】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2569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>  ▪ 直接相联、全相联、组相联三种结构对比见教材图示 ……  【教材 p.281-287】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79145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5A5A5A"/>
                </a:solidFill>
                <a:latin typeface="微软雅黑"/>
                <a:ea typeface="微软雅黑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57216"/>
            <a:ext cx="10515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引用来源：【教材 p.280-281】、【教材 p.279-280】、【教材 p.281-287】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715000"/>
            <a:ext cx="11064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8B2E"/>
                </a:solidFill>
                <a:latin typeface="微软雅黑"/>
                <a:ea typeface="微软雅黑"/>
              </a:rPr>
              <a:t>每处页码均可翻书核对：页码由检索片段元数据直接生成，模型无从编造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第 4 幕 · 最关键的一幕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演示 ④  教材没讲，就明说没讲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157276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82495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问：量子纠缠在量子计算芯片中如何实现纠错？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29967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教材完全未涉及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170078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FTS 原始命中 0 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1682495"/>
            <a:ext cx="14173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173736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闸门拦截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15798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→ 视为教材未覆盖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450591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C0392B"/>
                </a:solidFill>
                <a:latin typeface="微软雅黑"/>
                <a:ea typeface="微软雅黑"/>
              </a:rPr>
              <a:t>答：教材未找到相关内容。我检索的关键词是「…」，该问题在本教材知识库中没有匹配到相关内容，因此无法基于教材作答。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10128"/>
            <a:ext cx="11064240" cy="157276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438144"/>
            <a:ext cx="6766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问：请帮我写一份 Java 的冒泡排序代码。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8561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超出教材范围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34564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FTS 原始命中 5 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438144"/>
            <a:ext cx="1417320" cy="3657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4930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微软雅黑"/>
                <a:ea typeface="微软雅黑"/>
              </a:rPr>
              <a:t>闸门拦截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3913632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→ 视为教材未覆盖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C0392B"/>
                </a:solidFill>
                <a:latin typeface="微软雅黑"/>
                <a:ea typeface="微软雅黑"/>
              </a:rPr>
              <a:t>答：教材未找到相关内容。我检索的关键词是「…」，该问题在本教材知识库中没有匹配到相关内容，因此无法基于教材作答。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340096"/>
            <a:ext cx="11064240" cy="713232"/>
          </a:xfrm>
          <a:prstGeom prst="rect">
            <a:avLst/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31536"/>
            <a:ext cx="106070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注意第二个案例：FTS 确实命中了 5 条（因为「指令」「程序」等词），但都与问题无关。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7607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若直接把这些片段交给模型，它就会拿无关内容编答案 —— 这正是相关性闸门要拦住的情况。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每条约束都有对应机制与自动验证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R1~R6：不只是写进提示词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420624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645920"/>
            <a:ext cx="4846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645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59" y="1645920"/>
            <a:ext cx="3611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实现机制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1645920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自动验证方式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52760" y="1645920"/>
            <a:ext cx="91439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  <a:ea typeface="微软雅黑"/>
              </a:rPr>
              <a:t>结果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975104"/>
            <a:ext cx="11064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21408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3055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回答前必须先检索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59" y="2130552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提示词§2 + 代码调用链强制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213055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检查执行日志顺序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52760" y="2121408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42032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688336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697480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只用教材内容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59" y="2697480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提示词§1/§3 + 相关性闸门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269748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核对页码是否在片段内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60" y="2688336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108960"/>
            <a:ext cx="11064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55264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264408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附【教材 p.XX】引用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59" y="3264408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页码取自检索元数据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0" y="3264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正则匹配 + 真实性核对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52760" y="3255264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67588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3822192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831336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中文 + 英文术语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94759" y="3831336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提示词§4 + 术语表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43800" y="383133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中文主体 + 术语标注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52760" y="3822192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242816"/>
            <a:ext cx="11064240" cy="56692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" y="4389120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398264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未覆盖要诚实说明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59" y="4398264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固定话术 + 闸门拦截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43800" y="439826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是否含标准话术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652760" y="4389120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80974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956048"/>
            <a:ext cx="6217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965192"/>
            <a:ext cx="2423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1B2F4B"/>
                </a:solidFill>
                <a:latin typeface="微软雅黑"/>
                <a:ea typeface="微软雅黑"/>
              </a:rPr>
              <a:t>不复制大段原文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94759" y="4965192"/>
            <a:ext cx="36575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每片段限 2 句、截断 160 字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43800" y="496519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统计最长连续引用句数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52760" y="4956048"/>
            <a:ext cx="960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PASS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577840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E88B2E"/>
                </a:solidFill>
                <a:latin typeface="微软雅黑"/>
                <a:ea typeface="微软雅黑"/>
              </a:rPr>
              <a:t>5 个测试用例 × 6 条约束 = 30 项自动核查，通过 30 项（100%）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5 个用例 × 每个约束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合规性：逐条通过率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554480"/>
          <a:ext cx="69494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7818120" y="1554480"/>
            <a:ext cx="3813048" cy="41148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719072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F4B"/>
                </a:solidFill>
                <a:latin typeface="微软雅黑"/>
                <a:ea typeface="微软雅黑"/>
              </a:rPr>
              <a:t>测试用例设计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13969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正常问题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95560" y="213969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微软雅黑"/>
                <a:ea typeface="微软雅黑"/>
              </a:rPr>
              <a:t>3 个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42032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教材未覆盖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95560" y="25420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微软雅黑"/>
                <a:ea typeface="微软雅黑"/>
              </a:rPr>
              <a:t>1 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94436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A5A5A"/>
                </a:solidFill>
                <a:latin typeface="微软雅黑"/>
                <a:ea typeface="微软雅黑"/>
              </a:rPr>
              <a:t>超出教材范围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95560" y="294436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C0392B"/>
                </a:solidFill>
                <a:latin typeface="微软雅黑"/>
                <a:ea typeface="微软雅黑"/>
              </a:rPr>
              <a:t>1 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438144"/>
            <a:ext cx="3337560" cy="18288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584448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后两类是刻意设置的「陷阱题」：
专门检验系统在缺乏依据时
会不会编造答案。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Phase 1 客观指标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知识库做得怎么样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0292" cy="157276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F4B"/>
                </a:solidFill>
                <a:latin typeface="微软雅黑"/>
                <a:ea typeface="微软雅黑"/>
              </a:rPr>
              <a:t>277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知识块总数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均值 1082.5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554480"/>
            <a:ext cx="50292" cy="15727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微软雅黑"/>
                <a:ea typeface="微软雅黑"/>
              </a:rPr>
              <a:t>97.5%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落在 800~1200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270/277 块达标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554480"/>
            <a:ext cx="50292" cy="157276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6DA4"/>
                </a:solidFill>
                <a:latin typeface="微软雅黑"/>
                <a:ea typeface="微软雅黑"/>
              </a:rP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章节覆盖率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12/12 章全覆盖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1554480"/>
            <a:ext cx="256032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1554480"/>
            <a:ext cx="50292" cy="1572768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7373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B2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34086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页码元数据缺失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633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全部可追溯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290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分块 token 分布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66928" y="3758184"/>
          <a:ext cx="54864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ectangle 28"/>
          <p:cNvSpPr/>
          <p:nvPr/>
        </p:nvSpPr>
        <p:spPr>
          <a:xfrm>
            <a:off x="6355080" y="3758184"/>
            <a:ext cx="5276088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为什么这样分块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70248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章内按语义聚合，优先在小节边界断开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块间保留 180 字符重叠，避免答案被切断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超限不硬切：容忍 12% 超限，防止半满块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7 个 &lt;800 的块均为章末（小结/习题），属自然边界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每章块数与页码区间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12 章全覆盖，页码可追溯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66928" y="1554480"/>
          <a:ext cx="7223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001000" y="1554480"/>
            <a:ext cx="3630168" cy="42062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68249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教材结构（6 部分 12 章）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04825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第一部分 引言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1 章 · 27 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228600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p.37-63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65176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第二部分 指令系统结构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8950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3 章 · 55 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2889504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p.65-140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25526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第三部分 计算机硬件结构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349300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3 章 · 57 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3493008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p.143-213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85876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第四部分 CPU的微结构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9651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2 章 · 42 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4096512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p.217-287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46227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第五部分 并行处理结构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70001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2 章 · 40 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700016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p.289-347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506577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2E6DA4"/>
                </a:solidFill>
                <a:latin typeface="微软雅黑"/>
                <a:ea typeface="微软雅黑"/>
              </a:rPr>
              <a:t>第六部分 系统性能评价与分析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3035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A5A5A"/>
                </a:solidFill>
                <a:latin typeface="微软雅黑"/>
                <a:ea typeface="微软雅黑"/>
              </a:rPr>
              <a:t>1 章 · 56 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5303520"/>
            <a:ext cx="1143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9A9A9A"/>
                </a:solidFill>
                <a:latin typeface="微软雅黑"/>
                <a:ea typeface="微软雅黑"/>
              </a:rPr>
              <a:t>p.351-429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准确率与速度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检索能力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50292" cy="1572768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B2F4B"/>
                </a:solidFill>
                <a:latin typeface="微软雅黑"/>
                <a:ea typeface="微软雅黑"/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Top-1 准确率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10 个测试查询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01568" y="1554480"/>
            <a:ext cx="50292" cy="157276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273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微软雅黑"/>
                <a:ea typeface="微软雅黑"/>
              </a:rPr>
              <a:t>90%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273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Top-3 命中率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273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首条不在，前三条必在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554480"/>
            <a:ext cx="260604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1554480"/>
            <a:ext cx="50292" cy="157276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1737360"/>
            <a:ext cx="2240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E6DA4"/>
                </a:solidFill>
                <a:latin typeface="微软雅黑"/>
                <a:ea typeface="微软雅黑"/>
              </a:rPr>
              <a:t>7~13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340864"/>
            <a:ext cx="2240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单次检索耗时 (ms)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633472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本地 SQLite，无需 GPU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70848" y="1554480"/>
            <a:ext cx="2560320" cy="1572768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70848" y="1554480"/>
            <a:ext cx="50292" cy="1572768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72016" y="1737360"/>
            <a:ext cx="2194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E88B2E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72016" y="234086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A5A5A"/>
                </a:solidFill>
                <a:latin typeface="微软雅黑"/>
                <a:ea typeface="微软雅黑"/>
              </a:rPr>
              <a:t>外部依赖服务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72016" y="26334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9A9A9A"/>
                </a:solidFill>
                <a:latin typeface="微软雅黑"/>
                <a:ea typeface="微软雅黑"/>
              </a:rPr>
              <a:t>无需向量库/模型服务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3429000"/>
            <a:ext cx="5486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B2F4B"/>
                </a:solidFill>
                <a:latin typeface="微软雅黑"/>
                <a:ea typeface="微软雅黑"/>
              </a:rPr>
              <a:t>中文检索：分词器选择是关键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566928" y="3758184"/>
          <a:ext cx="5486400" cy="2148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Rectangle 28"/>
          <p:cNvSpPr/>
          <p:nvPr/>
        </p:nvSpPr>
        <p:spPr>
          <a:xfrm>
            <a:off x="6355080" y="3758184"/>
            <a:ext cx="5276088" cy="214884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两个提升准确率的设计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70248"/>
            <a:ext cx="484632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同义词扩展：映象 ↔ 映像 ↔ 相联；Cache ↔ 高速缓存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二次排序：先召回 40 条，再按「覆盖度+标题+BM25」精排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解决「用户用词 ≠ 教材用词」导致的漏检</a:t>
            </a:r>
          </a:p>
          <a:p>
            <a:pPr lvl="1">
              <a:spcAft>
                <a:spcPts val="500"/>
              </a:spcAft>
            </a:pPr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▪ 解决单纯 LIMIT topk 导致好结果进不了候选集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依赖极简，可离线运行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技术栈与运行方式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486400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7190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F4B"/>
                </a:solidFill>
                <a:latin typeface="微软雅黑"/>
                <a:ea typeface="微软雅黑"/>
              </a:rPr>
              <a:t>技术组成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157984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DA4"/>
                </a:solidFill>
                <a:latin typeface="微软雅黑"/>
                <a:ea typeface="微软雅黑"/>
              </a:rPr>
              <a:t>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157984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SQLite FTS5（trigram 分词）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724912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DA4"/>
                </a:solidFill>
                <a:latin typeface="微软雅黑"/>
                <a:ea typeface="微软雅黑"/>
              </a:rPr>
              <a:t>检索排序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724912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BM25 + 二次排序 + 相关性闸门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291840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DA4"/>
                </a:solidFill>
                <a:latin typeface="微软雅黑"/>
                <a:ea typeface="微软雅黑"/>
              </a:rPr>
              <a:t>智能体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291840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直接调用 LLM API + 自研检索链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858768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DA4"/>
                </a:solidFill>
                <a:latin typeface="微软雅黑"/>
                <a:ea typeface="微软雅黑"/>
              </a:rPr>
              <a:t>提示词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3858768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五段式系统提示词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4425696"/>
            <a:ext cx="1234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6DA4"/>
                </a:solidFill>
                <a:latin typeface="微软雅黑"/>
                <a:ea typeface="微软雅黑"/>
              </a:rPr>
              <a:t>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57400" y="4425696"/>
            <a:ext cx="37490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Python 命令行 / 一键脚本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554480"/>
            <a:ext cx="5230368" cy="39319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8544" y="171907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F4B"/>
                </a:solidFill>
                <a:latin typeface="微软雅黑"/>
                <a:ea typeface="微软雅黑"/>
              </a:rPr>
              <a:t>三种运行方式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38544" y="2176272"/>
            <a:ext cx="41148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2194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7D32"/>
                </a:solidFill>
                <a:latin typeface="微软雅黑"/>
                <a:ea typeface="微软雅黑"/>
              </a:rPr>
              <a:t>离线模式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21424" y="250545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无需 API Key，输出确定，适合验收与演示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8544" y="3108960"/>
            <a:ext cx="41148" cy="73152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21424" y="31272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2E6DA4"/>
                </a:solidFill>
                <a:latin typeface="微软雅黑"/>
                <a:ea typeface="微软雅黑"/>
              </a:rPr>
              <a:t>API 模式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21424" y="343814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接入 DeepSeek/OpenAI，语言更自然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38544" y="4041648"/>
            <a:ext cx="41148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4059935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DSH 插件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21424" y="43708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可作为插件接入 DSH 智能体框架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544" y="495604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C0392B"/>
                </a:solidFill>
                <a:latin typeface="微软雅黑"/>
                <a:ea typeface="微软雅黑"/>
              </a:rPr>
              <a:t>API Key 仅从环境变量读取，代码与配置中无任何密钥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7 项作业要求全部完成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交付物清单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00200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170078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知识库 + 构建脚本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57800" y="170992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arch_kb.sqlite + scripts/01~03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61320" y="1719072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61320" y="174193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093976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19456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1945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检索工具 + 调用说明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220370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knowledge_search.py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61320" y="2212848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61320" y="223570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587752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688336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688336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系统提示词 + 设计说明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800" y="269748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system_prompt.txt / 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61320" y="2706624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61320" y="2729484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081528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318211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318211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智能体配置 + 启动说明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57800" y="3191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agent.config.json + README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61320" y="3200400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61320" y="3223260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575304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3675888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6758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测试报告（DOCX）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368503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测试报告.docx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561320" y="3694176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61320" y="3717036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4069080"/>
            <a:ext cx="11064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169664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169664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实施过程 PPT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57800" y="4178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实施过程.pptx（20 页）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561320" y="4187952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61320" y="4210812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" y="4562856"/>
            <a:ext cx="11064240" cy="475488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466344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66344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B2F4B"/>
                </a:solidFill>
                <a:latin typeface="微软雅黑"/>
                <a:ea typeface="微软雅黑"/>
              </a:rPr>
              <a:t>小组分工说明（DOCX）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67258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A5A5A"/>
                </a:solidFill>
                <a:latin typeface="微软雅黑"/>
                <a:ea typeface="微软雅黑"/>
              </a:rPr>
              <a:t>小组分工说明.docx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561320" y="4681728"/>
            <a:ext cx="868680" cy="25603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61320" y="4704588"/>
            <a:ext cx="868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微软雅黑"/>
                <a:ea typeface="微软雅黑"/>
              </a:rPr>
              <a:t>已完成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257800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88B2E"/>
                </a:solidFill>
                <a:latin typeface="微软雅黑"/>
                <a:ea typeface="微软雅黑"/>
              </a:rPr>
              <a:t>额外产出：一键演示脚本 demo.py  ·  课堂讲解稿  ·  GitHub 开源仓库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这些问题我们知道，也说明改进方向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诚实的不足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1064240" cy="731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54480"/>
            <a:ext cx="45720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27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离线模式回答偏「抽取式」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3852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语言组织不如 LLM 自然，但换来确定性与可验证性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55648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→ 接 API 模式即可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59152"/>
            <a:ext cx="11064240" cy="731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359152"/>
            <a:ext cx="45720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432304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trigram 需 ≥3 字符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274320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2 字查询（如「异常」）依赖同义词表覆盖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2560320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→ 扩充术语表 / 换中文分词器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163824"/>
            <a:ext cx="11064240" cy="731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163824"/>
            <a:ext cx="45720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236976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纯全文检索无语义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同义改写、跨表述的召回有限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364992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→ 引入向量检索做混合召回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968496"/>
            <a:ext cx="11064240" cy="731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3968496"/>
            <a:ext cx="45720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" y="404164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未做多轮对话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" y="435254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「它」「该协议」等指代无法消解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4169663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→ 加对话状态管理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773168"/>
            <a:ext cx="11064240" cy="7315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4773168"/>
            <a:ext cx="45720" cy="73152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8463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2F4B"/>
                </a:solidFill>
                <a:latin typeface="微软雅黑"/>
                <a:ea typeface="微软雅黑"/>
              </a:rPr>
              <a:t>未做增量更新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15721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新增章节需整体重建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497433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2E7D32"/>
                </a:solidFill>
                <a:latin typeface="微软雅黑"/>
                <a:ea typeface="微软雅黑"/>
              </a:rPr>
              <a:t>→ 支持追加写库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E88B2E"/>
                </a:solidFill>
                <a:latin typeface="微软雅黑"/>
                <a:ea typeface="微软雅黑"/>
              </a:rPr>
              <a:t>约束行为 · 开放实现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8368"/>
            <a:ext cx="11064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B2F4B"/>
                </a:solidFill>
                <a:latin typeface="微软雅黑"/>
                <a:ea typeface="微软雅黑"/>
              </a:rPr>
              <a:t>一句话总结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98448"/>
            <a:ext cx="11064240" cy="25603"/>
          </a:xfrm>
          <a:prstGeom prst="rect">
            <a:avLst/>
          </a:prstGeom>
          <a:solidFill>
            <a:srgbClr val="E8EF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691639"/>
            <a:ext cx="11064240" cy="137160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这个系统的核心不是「能回答」，而是「守规矩」。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10424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C8D8E8"/>
                </a:solidFill>
                <a:latin typeface="微软雅黑"/>
                <a:ea typeface="微软雅黑"/>
              </a:rPr>
              <a:t>用工程手段把「幻觉」和「版权」两个风险按住了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337560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337560"/>
            <a:ext cx="45720" cy="877824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6DA4"/>
                </a:solidFill>
                <a:latin typeface="微软雅黑"/>
                <a:ea typeface="微软雅黑"/>
              </a:rPr>
              <a:t>R1 先检索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7764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提示词 + 代码调用链双重强制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337560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337560"/>
            <a:ext cx="45720" cy="8778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429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32"/>
                </a:solidFill>
                <a:latin typeface="微软雅黑"/>
                <a:ea typeface="微软雅黑"/>
              </a:rPr>
              <a:t>R2 只用教材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3776472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相关性闸门拦截无关内容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361688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361688"/>
            <a:ext cx="45720" cy="877824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45312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2F4B"/>
                </a:solidFill>
                <a:latin typeface="微软雅黑"/>
                <a:ea typeface="微软雅黑"/>
              </a:rPr>
              <a:t>R3 页码引用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8006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页码来自检索元数据，无法编造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361688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361688"/>
            <a:ext cx="45720" cy="877824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453127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E88B2E"/>
                </a:solidFill>
                <a:latin typeface="微软雅黑"/>
                <a:ea typeface="微软雅黑"/>
              </a:rPr>
              <a:t>R4 中文+术语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4800600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提示词规定「中文(English)」格式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5385816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5385816"/>
            <a:ext cx="45720" cy="87782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477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C0392B"/>
                </a:solidFill>
                <a:latin typeface="微软雅黑"/>
                <a:ea typeface="微软雅黑"/>
              </a:rPr>
              <a:t>R5 诚实说明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247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固定话术 + 闸门拦截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5385816"/>
            <a:ext cx="5440680" cy="877824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5385816"/>
            <a:ext cx="45720" cy="877824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5477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2E7D32"/>
                </a:solidFill>
                <a:latin typeface="微软雅黑"/>
                <a:ea typeface="微软雅黑"/>
              </a:rPr>
              <a:t>R6 版权保护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82472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A5A5A"/>
                </a:solidFill>
                <a:latin typeface="微软雅黑"/>
                <a:ea typeface="微软雅黑"/>
              </a:rPr>
              <a:t>每片段限 2 句，只做短引用与转述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3737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Arch-Tutor · 计算机体系结构课程知识库智能问答系统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820095" y="64373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0">
                <a:solidFill>
                  <a:srgbClr val="9A9A9A"/>
                </a:solidFill>
                <a:latin typeface="微软雅黑"/>
                <a:ea typeface="微软雅黑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谢谢，欢迎提问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310128"/>
            <a:ext cx="2011680" cy="41148"/>
          </a:xfrm>
          <a:prstGeom prst="rect">
            <a:avLst/>
          </a:prstGeom>
          <a:solidFill>
            <a:srgbClr val="E8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584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C8D8E8"/>
                </a:solidFill>
                <a:latin typeface="微软雅黑"/>
                <a:ea typeface="微软雅黑"/>
              </a:rPr>
              <a:t>现场可试：python demo.py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9FB6CC"/>
                </a:solidFill>
                <a:latin typeface="微软雅黑"/>
                <a:ea typeface="微软雅黑"/>
              </a:rPr>
              <a:t>python demo.py --scene 4      # 单看诚实性验证
python agents/arch_tutor_agent.py "你的问题" --offline
python test/run_smoke_test.py # 合规性完整测试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