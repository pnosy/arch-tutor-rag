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Arch-Tutor
计算机体系结构课程知识库智能问答系统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6E4F0"/>
                </a:solidFill>
                <a:latin typeface="微软雅黑"/>
                <a:ea typeface="微软雅黑"/>
              </a:rPr>
              <a:t>基于 RAG 的教材问答实现与 R1~R6 合规性验证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微软雅黑"/>
                <a:ea typeface="微软雅黑"/>
              </a:rPr>
              <a:t>教材：《计算机体系结构基础》胡伟武 等（430 页 / 12 章）</a:t>
            </a:r>
          </a:p>
          <a:p>
            <a:r>
              <a:rPr sz="1500" b="0">
                <a:solidFill>
                  <a:srgbClr val="555555"/>
                </a:solidFill>
                <a:latin typeface="微软雅黑"/>
                <a:ea typeface="微软雅黑"/>
              </a:rPr>
              <a:t>技术栈：方案 C —— SQLite FTS5(trigram) + BM25 + 自研检索 + LLM API</a:t>
            </a:r>
          </a:p>
          <a:p>
            <a:r>
              <a:rPr sz="1500" b="0">
                <a:solidFill>
                  <a:srgbClr val="555555"/>
                </a:solidFill>
                <a:latin typeface="微软雅黑"/>
                <a:ea typeface="微软雅黑"/>
              </a:rPr>
              <a:t>成果：277 个知识块  |  检索 Top-3 90.0%  |  R1~R6 核查 30/30 通过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汇报提纲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00" b="1">
                <a:solidFill>
                  <a:srgbClr val="1F3A5F"/>
                </a:solidFill>
                <a:latin typeface="微软雅黑"/>
                <a:ea typeface="微软雅黑"/>
              </a:rPr>
              <a:t>1. 作业背景与 RAG 原理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1F3A5F"/>
                </a:solidFill>
                <a:latin typeface="微软雅黑"/>
                <a:ea typeface="微软雅黑"/>
              </a:rPr>
              <a:t>2. 技术选型：为什么选方案 C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1F3A5F"/>
                </a:solidFill>
                <a:latin typeface="微软雅黑"/>
                <a:ea typeface="微软雅黑"/>
              </a:rPr>
              <a:t>3. Phase 1：知识库构建（提取 / 分块 / 建库 / 验证）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1F3A5F"/>
                </a:solidFill>
                <a:latin typeface="微软雅黑"/>
                <a:ea typeface="微软雅黑"/>
              </a:rPr>
              <a:t>4. Phase 2：智能问答系统（检索工具 / 提示词 / 配置）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1F3A5F"/>
                </a:solidFill>
                <a:latin typeface="微软雅黑"/>
                <a:ea typeface="微软雅黑"/>
              </a:rPr>
              <a:t>5. R1~R6 行为约束的实现与验证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1F3A5F"/>
                </a:solidFill>
                <a:latin typeface="微软雅黑"/>
                <a:ea typeface="微软雅黑"/>
              </a:rPr>
              <a:t>6. 踩坑与解决：4 个真实问题</a:t>
            </a:r>
          </a:p>
          <a:p>
            <a:pPr>
              <a:spcAft>
                <a:spcPts val="1300"/>
              </a:spcAft>
            </a:pPr>
            <a:r>
              <a:rPr sz="1700" b="1">
                <a:solidFill>
                  <a:srgbClr val="1F3A5F"/>
                </a:solidFill>
                <a:latin typeface="微软雅黑"/>
                <a:ea typeface="微软雅黑"/>
              </a:rPr>
              <a:t>7. 成果、不足与展望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一、作业背景：RAG 要解决什么问题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让 LLM「有据可依」地回答问题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大语言模型的两个固有缺陷</a:t>
            </a:r>
          </a:p>
          <a:p>
            <a:pPr lvl="1">
              <a:spcAft>
                <a:spcPts val="600"/>
              </a:spcAft>
            </a:pPr>
            <a:r>
              <a:rPr sz="1500" b="0">
                <a:latin typeface="微软雅黑"/>
                <a:ea typeface="微软雅黑"/>
              </a:rPr>
              <a:t>• 幻觉（Hallucination）：模型会用流畅的语言给出错误答案</a:t>
            </a:r>
          </a:p>
          <a:p>
            <a:pPr lvl="1">
              <a:spcAft>
                <a:spcPts val="600"/>
              </a:spcAft>
            </a:pPr>
            <a:r>
              <a:rPr sz="1500" b="0">
                <a:latin typeface="微软雅黑"/>
                <a:ea typeface="微软雅黑"/>
              </a:rPr>
              <a:t>• 知识陈旧/私有：教材、内部文档不在预训练语料中</a:t>
            </a:r>
          </a:p>
          <a:p>
            <a:pPr>
              <a:spcAft>
                <a:spcPts val="600"/>
              </a:spcAft>
            </a:pPr>
            <a:r>
              <a:rPr sz="1500" b="0"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1F3A5F"/>
                </a:solidFill>
                <a:latin typeface="微软雅黑"/>
                <a:ea typeface="微软雅黑"/>
              </a:rPr>
              <a:t>RAG（检索增强生成）的核心思想</a:t>
            </a:r>
          </a:p>
          <a:p>
            <a:pPr lvl="1">
              <a:spcAft>
                <a:spcPts val="600"/>
              </a:spcAft>
            </a:pPr>
            <a:r>
              <a:rPr sz="1500" b="0">
                <a:latin typeface="微软雅黑"/>
                <a:ea typeface="微软雅黑"/>
              </a:rPr>
              <a:t>• 先从知识库中检索与问题相关的内容，再基于检索结果生成回答，</a:t>
            </a:r>
          </a:p>
          <a:p>
            <a:pPr lvl="1">
              <a:spcAft>
                <a:spcPts val="600"/>
              </a:spcAft>
            </a:pPr>
            <a:r>
              <a:rPr sz="1500" b="0">
                <a:latin typeface="微软雅黑"/>
                <a:ea typeface="微软雅黑"/>
              </a:rPr>
              <a:t>• 而不是直接依赖模型内部知识。</a:t>
            </a:r>
          </a:p>
          <a:p>
            <a:pPr>
              <a:spcAft>
                <a:spcPts val="600"/>
              </a:spcAft>
            </a:pPr>
            <a:r>
              <a:rPr sz="1500" b="0">
                <a:latin typeface="微软雅黑"/>
                <a:ea typeface="微软雅黑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C0392B"/>
                </a:solidFill>
                <a:latin typeface="微软雅黑"/>
                <a:ea typeface="微软雅黑"/>
              </a:rPr>
              <a:t>本作业的强制要求：不只「能回答」，还要「守规矩」</a:t>
            </a:r>
          </a:p>
          <a:p>
            <a:pPr lvl="1">
              <a:spcAft>
                <a:spcPts val="600"/>
              </a:spcAft>
            </a:pPr>
            <a:r>
              <a:rPr sz="1500" b="0">
                <a:latin typeface="微软雅黑"/>
                <a:ea typeface="微软雅黑"/>
              </a:rPr>
              <a:t>• R1 先检索后回答  ·  R2 只用教材  ·  R3 附页码引用</a:t>
            </a:r>
          </a:p>
          <a:p>
            <a:pPr lvl="1">
              <a:spcAft>
                <a:spcPts val="600"/>
              </a:spcAft>
            </a:pPr>
            <a:r>
              <a:rPr sz="1500" b="0">
                <a:latin typeface="微软雅黑"/>
                <a:ea typeface="微软雅黑"/>
              </a:rPr>
              <a:t>• R4 中文+英文术语  ·  R5 未覆盖要诚实  ·  R6 不复制原文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二、技术选型：为什么选方案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从零搭建，深入理解每个环节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5020"/>
                <a:gridCol w="4034332"/>
                <a:gridCol w="5295061"/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方案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技术特点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我们的判断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A（参考路径）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DSH 框架 + 自定义插件
SQLite FTS5 + BM25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属教师参考路径；作业鼓励差异化。
我们仍额外提供了 DSH 插件实现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ChromaDB/FAISS + LangChain
向量检索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依赖重、环节多；中文精确术语检索
场景下 BM25 更确定、更可解释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C（选定）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SQLite FTS5 + 自研检索
+ 直接调 LLM API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理解最深入、依赖最简
结果可复现，便于逐条验证 R1~R6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Dify/FastGPT 低代码平台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平台封装了检索过程
难以强制「先检索后回答」并取证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微软雅黑"/>
                <a:ea typeface="微软雅黑"/>
              </a:rPr>
              <a:t>依赖极简：仅需 pymupdf（建库阶段）+ Python 标准库；无需 GPU、向量库、框架。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三、系统架构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两阶段：离线建库 + 在线问答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Phase 1 知识库构建（离线，一次性）</a:t>
            </a:r>
          </a:p>
          <a:p>
            <a:pPr lvl="1">
              <a:spcAft>
                <a:spcPts val="500"/>
              </a:spcAft>
            </a:pPr>
            <a:r>
              <a:rPr sz="1400" b="0">
                <a:latin typeface="微软雅黑"/>
                <a:ea typeface="微软雅黑"/>
              </a:rPr>
              <a:t>• 教材 PDF (430页)  →  PyMuPDF 提取  →  pages.jsonl + chapters.json</a:t>
            </a:r>
          </a:p>
          <a:p>
            <a:pPr lvl="1">
              <a:spcAft>
                <a:spcPts val="500"/>
              </a:spcAft>
            </a:pPr>
            <a:r>
              <a:rPr sz="1400" b="0">
                <a:latin typeface="微软雅黑"/>
                <a:ea typeface="微软雅黑"/>
              </a:rPr>
              <a:t>• →  语义分块  →  chunks.jsonl（277 块，800~1200 tokens，含重叠）</a:t>
            </a:r>
          </a:p>
          <a:p>
            <a:pPr lvl="1">
              <a:spcAft>
                <a:spcPts val="500"/>
              </a:spcAft>
            </a:pPr>
            <a:r>
              <a:rPr sz="1400" b="0">
                <a:latin typeface="微软雅黑"/>
                <a:ea typeface="微软雅黑"/>
              </a:rPr>
              <a:t>• →  SQLite FTS5(trigram) + BM25  →  arch_kb.sqlite</a:t>
            </a:r>
          </a:p>
          <a:p>
            <a:pPr lvl="1">
              <a:spcAft>
                <a:spcPts val="500"/>
              </a:spcAft>
            </a:pPr>
            <a:r>
              <a:rPr sz="1400" b="0">
                <a:latin typeface="微软雅黑"/>
                <a:ea typeface="微软雅黑"/>
              </a:rPr>
              <a:t>• →  验证：覆盖率 / 块统计 / 检索准确率</a:t>
            </a:r>
          </a:p>
          <a:p>
            <a:pPr>
              <a:spcAft>
                <a:spcPts val="500"/>
              </a:spcAft>
            </a:pPr>
            <a:r>
              <a:rPr sz="1400" b="0">
                <a:latin typeface="微软雅黑"/>
                <a:ea typeface="微软雅黑"/>
              </a:rPr>
              <a:t/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Phase 2 问答运行时（在线）</a:t>
            </a:r>
          </a:p>
          <a:p>
            <a:pPr lvl="1">
              <a:spcAft>
                <a:spcPts val="500"/>
              </a:spcAft>
            </a:pPr>
            <a:r>
              <a:rPr sz="1400" b="0">
                <a:latin typeface="微软雅黑"/>
                <a:ea typeface="微软雅黑"/>
              </a:rPr>
              <a:t>• 用户问题  →  [R1] knowledge_search（强制前置）</a:t>
            </a:r>
          </a:p>
          <a:p>
            <a:pPr lvl="2">
              <a:spcAft>
                <a:spcPts val="500"/>
              </a:spcAft>
            </a:pPr>
            <a:r>
              <a:rPr sz="1400" b="0">
                <a:latin typeface="微软雅黑"/>
                <a:ea typeface="微软雅黑"/>
              </a:rPr>
              <a:t>– →  查询预处理(去疑问词/同义词扩展)  →  FTS5 召回候选池</a:t>
            </a:r>
          </a:p>
          <a:p>
            <a:pPr lvl="2">
              <a:spcAft>
                <a:spcPts val="500"/>
              </a:spcAft>
            </a:pPr>
            <a:r>
              <a:rPr sz="1400" b="0">
                <a:latin typeface="微软雅黑"/>
                <a:ea typeface="微软雅黑"/>
              </a:rPr>
              <a:t>– →  二次排序(覆盖度+标题命中+BM25排名)  →  相关性闸门</a:t>
            </a:r>
          </a:p>
          <a:p>
            <a:pPr lvl="1">
              <a:spcAft>
                <a:spcPts val="500"/>
              </a:spcAft>
            </a:pPr>
            <a:r>
              <a:rPr sz="1400" b="0">
                <a:latin typeface="微软雅黑"/>
                <a:ea typeface="微软雅黑"/>
              </a:rPr>
              <a:t>• →  带页码片段  →  [R2~R6] 生成合规回答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四、Phase 1-1：文本提取与章节检测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用 PDF 书签而非正则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1F3A5F"/>
                </a:solidFill>
                <a:latin typeface="微软雅黑"/>
                <a:ea typeface="微软雅黑"/>
              </a:rPr>
              <a:t>教材 PDF 结构（由 LaTeX/hyperref 生成，自带 210 条书签）</a:t>
            </a:r>
          </a:p>
          <a:p>
            <a:pPr lvl="1">
              <a:spcAft>
                <a:spcPts val="500"/>
              </a:spcAft>
            </a:pPr>
            <a:r>
              <a:rPr sz="1400" b="0">
                <a:latin typeface="微软雅黑"/>
                <a:ea typeface="微软雅黑"/>
              </a:rPr>
              <a:t>• level 1 → 部分（6 个）   level 2 → 章（12 个）</a:t>
            </a:r>
          </a:p>
          <a:p>
            <a:pPr lvl="1">
              <a:spcAft>
                <a:spcPts val="500"/>
              </a:spcAft>
            </a:pPr>
            <a:r>
              <a:rPr sz="1400" b="0">
                <a:latin typeface="微软雅黑"/>
                <a:ea typeface="微软雅黑"/>
              </a:rPr>
              <a:t>• level 3 → 节（72 个）    level 4 → 小节（120 个）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200400"/>
          <a:ext cx="1109441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7166"/>
                <a:gridCol w="4286478"/>
                <a:gridCol w="4790770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决策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做法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理由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章节边界来源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直接读取 PDF 书签
以 level≤2 作为「章」边界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书签是出版方权威结构，零误判；
正则匹配「第X章」易受页眉、目录干扰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文本清洗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合并断行、折叠多余空行、
去除零宽字符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LaTeX PDF 存在硬换行与断词，
不清洗会污染分块与检索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微软雅黑"/>
                <a:ea typeface="微软雅黑"/>
              </a:rPr>
              <a:t>结果：识别 12 章，边界与目录完全一致；提取总字符 409,561，低密度页（封面/插页）34 页已自动跳过。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四、Phase 1-2：语义分块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作业要求 800~1200 tokens，块间有重叠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017166"/>
                <a:gridCol w="6303644"/>
              </a:tblGrid>
              <a:tr h="420624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取值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依据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TARGET_TOKENS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1000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作业要求区间的中值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MIN /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800 / 1200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作业规定的下限与上限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OVERLAP_CHARS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180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防止答案被块边界切断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SPLIT_TOLERANCE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容忍轻微超限，避免劣化切分（见踩坑）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657600"/>
          <a:ext cx="110944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457"/>
                <a:gridCol w="2521457"/>
                <a:gridCol w="3025749"/>
                <a:gridCol w="3025749"/>
              </a:tblGrid>
              <a:tr h="4343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最终指标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数值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最终指标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数值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总块数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277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落在 800~1200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270 块（97.5%）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token 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1082.5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超过 1200 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 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token 范围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344~1199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章末块(&lt;800)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7 块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四、Phase 1-3：构建 FTS5 知识库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中文检索的关键：分词器选择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8667"/>
                <a:gridCol w="4248924"/>
                <a:gridCol w="3776822"/>
              </a:tblGrid>
              <a:tr h="4343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检索方式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中文查询「直接相联组相联」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结论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无索引 LIKE '%词%'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命中但无法排序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只能返回布尔结果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FTS5 unicode61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 命中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中文整句被当作单一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FTS5 trigram（选定）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命中 p.280（正确）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 字符滑窗，中文子串匹配良好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11094415" cy="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表结构</a:t>
            </a:r>
          </a:p>
          <a:p>
            <a:pPr lvl="1">
              <a:spcAft>
                <a:spcPts val="400"/>
              </a:spcAft>
            </a:pPr>
            <a:r>
              <a:rPr sz="1250" b="0">
                <a:latin typeface="微软雅黑"/>
                <a:ea typeface="微软雅黑"/>
              </a:rPr>
              <a:t>• chunks：chunk_id, text, page_start, page_end, chapter, section, n_tokens_est</a:t>
            </a:r>
          </a:p>
          <a:p>
            <a:pPr lvl="1">
              <a:spcAft>
                <a:spcPts val="400"/>
              </a:spcAft>
            </a:pPr>
            <a:r>
              <a:rPr sz="1250" b="0">
                <a:latin typeface="微软雅黑"/>
                <a:ea typeface="微软雅黑"/>
              </a:rPr>
              <a:t>• chunks_fts：FTS5 外部内容索引，tokenize='trigram'，排序用 bm25()</a:t>
            </a:r>
          </a:p>
          <a:p>
            <a:pPr>
              <a:spcAft>
                <a:spcPts val="400"/>
              </a:spcAft>
            </a:pPr>
            <a:r>
              <a:rPr sz="1250" b="0">
                <a:latin typeface="微软雅黑"/>
                <a:ea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为什么选 trigram？</a:t>
            </a:r>
          </a:p>
          <a:p>
            <a:pPr lvl="1">
              <a:spcAft>
                <a:spcPts val="400"/>
              </a:spcAft>
            </a:pPr>
            <a:r>
              <a:rPr sz="1250" b="0">
                <a:latin typeface="微软雅黑"/>
                <a:ea typeface="微软雅黑"/>
              </a:rPr>
              <a:t>• 中文没有空格，unicode61 会把整句当一个 token，导致中文查询全部 0 命中。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微软雅黑"/>
                <a:ea typeface="微软雅黑"/>
              </a:rPr>
              <a:t>代价：trigram 要求查询词 ≥3 字符。应对：MATCH 表达式与覆盖度探针均过滤 &lt;3 字符的词，并用同义词表把短查询映射到教材术语。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四、Phase 1-4：知识库验证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三项验证全部达标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9441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2470"/>
                <a:gridCol w="3929271"/>
                <a:gridCol w="4622672"/>
              </a:tblGrid>
              <a:tr h="4049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块数统计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总块数 / token 均值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277 块 / 1082.5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粒度合规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落在 800~1200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97.5%（超上限 0 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章节覆盖率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已覆盖章节 / 总章节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12/12 = 100.0%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页码元数据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缺失或非法的块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 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页码覆盖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知识库覆盖页范围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p.37 ~ p.429（共 430 页）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检索准确性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Top-1 / Top-3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80.0% / 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微软雅黑"/>
                <a:ea typeface="微软雅黑"/>
              </a:rPr>
              <a:t>复现命令：python scripts/04_verify_kb.py  →  data/verify_report.json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五、Phase 2-1：检索工具 knowledge_search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RAG 的唯一事实来源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94415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F3A5F"/>
                </a:solidFill>
                <a:latin typeface="微软雅黑"/>
                <a:ea typeface="微软雅黑"/>
              </a:rPr>
              <a:t>检索流水线（4 步）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① 查询预处理：去除疑问词（「什么是」「如何」等）+ 同义词扩展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② FTS5 MATCH 召回候选池：LIMIT max(topk×8, 40)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③ 二次排序：0.35×词覆盖度 + 0.15×完整短语 + 0.30×标题命中 + 0.20×BM25排名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④ 相关性闸门：实义关键词覆盖率 &lt; 0.34 → 判定「教材未覆盖」</a:t>
            </a:r>
          </a:p>
          <a:p>
            <a:pPr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F3A5F"/>
                </a:solidFill>
                <a:latin typeface="微软雅黑"/>
                <a:ea typeface="微软雅黑"/>
              </a:rPr>
              <a:t>返回结构（直接支持 R3 页码引用）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{ chunk_id, text, page_start, page_end, chapter, section,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  score, citation: "【教材 p.279-280】" }</a:t>
            </a:r>
          </a:p>
          <a:p>
            <a:pPr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/>
            </a:r>
          </a:p>
          <a:p>
            <a:pPr>
              <a:spcAft>
                <a:spcPts val="500"/>
              </a:spcAft>
            </a:pPr>
            <a:r>
              <a:rPr sz="1300" b="1">
                <a:solidFill>
                  <a:srgbClr val="1F3A5F"/>
                </a:solidFill>
                <a:latin typeface="微软雅黑"/>
                <a:ea typeface="微软雅黑"/>
              </a:rPr>
              <a:t>同义词表（解决「用户用词 ≠ 教材用词」）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映象 ↔ 映像 ↔ 映射 ↔ 相联   |   Cache ↔ 高速缓存   |   TLB ↔ 快表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五、Phase 2-2：五段式系统提示词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每段对应明确的约束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4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7062"/>
                <a:gridCol w="7353275"/>
                <a:gridCol w="2064077"/>
              </a:tblGrid>
              <a:tr h="4114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段落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对应约束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第一部分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身份与知识边界：限定只用本教材，禁用内部知识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R2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第二部分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强制检索流程：回答前必须调用 knowledge_search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第三部分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事实依据：所有事实须能在检索片段中找到出处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R2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第四部分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回答格式：每个事实附【教材 p.XX】，术语写「中文(English)」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R3 / 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第五部分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诚实性与版权：未覆盖则答固定话术；连续引用 ≤3 句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R5 / R6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06240"/>
            <a:ext cx="11094415" cy="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设计要点</a:t>
            </a:r>
          </a:p>
          <a:p>
            <a:pPr lvl="1">
              <a:spcAft>
                <a:spcPts val="400"/>
              </a:spcAft>
            </a:pPr>
            <a:r>
              <a:rPr sz="1250" b="0">
                <a:latin typeface="微软雅黑"/>
                <a:ea typeface="微软雅黑"/>
              </a:rPr>
              <a:t>• 给出固定话术「教材未找到相关内容」——既降低幻觉率，也让 R5 可被字符串精确验证。</a:t>
            </a:r>
          </a:p>
          <a:p>
            <a:pPr lvl="1">
              <a:spcAft>
                <a:spcPts val="400"/>
              </a:spcAft>
            </a:pPr>
            <a:r>
              <a:rPr sz="1250" b="0">
                <a:latin typeface="微软雅黑"/>
                <a:ea typeface="微软雅黑"/>
              </a:rPr>
              <a:t>• 末尾附 6 条自检清单，作为回答前的最后一道闸门。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六、R1 的强制：提示词 + 机制双保险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为什么不能只靠提示词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latin typeface="微软雅黑"/>
                <a:ea typeface="微软雅黑"/>
              </a:rPr>
              <a:t>纯提示词约束存在被模型绕过的风险，因此对最关键的 R1 采取双重保障：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1109441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16"/>
                <a:gridCol w="6113249"/>
                <a:gridCol w="3396249"/>
              </a:tblGrid>
              <a:tr h="45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手段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效果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提示词层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第 4 条把「调用 knowledge_search」定义为回答的前置条件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模型倾向于遵守，但理论上可被绕过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代码层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run() 中检索是回答调用链的必经步骤：
answer_offline / answer_with_api 均接收 hits 参数，
无检索结果则无法进入事实生成分支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运行时不存在绕过路径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微软雅黑"/>
                <a:ea typeface="微软雅黑"/>
              </a:rPr>
              <a:t>验证方式：读取执行日志的 retrieval_called 标志 + 检查调用顺序。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六、R1~R6 实现与验证对照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30 项自动核查全部通过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1907"/>
                <a:gridCol w="3739690"/>
                <a:gridCol w="3739690"/>
                <a:gridCol w="1246563"/>
                <a:gridCol w="1246563"/>
              </a:tblGrid>
              <a:tr h="4049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约束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实现位置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验证方式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通过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R1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提示词§2 + run() 调用链强制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检查 log.retrieval_called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5/5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</a:rPr>
                        <a:t>PASS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提示词§1/§3 + 相关性闸门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核对引用页码是否在片段范围内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提示词§4 + citation 字段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正则匹配 + 页码真实性核对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5/5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</a:rPr>
                        <a:t>PASS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提示词§4 + detect_terms()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中文主体 + 术语标注检查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提示词§1/§5 + 闸门拦截分支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是否含标准话术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5/5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</a:rPr>
                        <a:t>PASS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提示词§5 + 每片段限 2 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统计最长连续原文句数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E7D32"/>
                          </a:solidFill>
                          <a:latin typeface="微软雅黑"/>
                          <a:ea typeface="微软雅黑"/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微软雅黑"/>
                <a:ea typeface="微软雅黑"/>
              </a:rPr>
              <a:t>总计 30/30 项通过（100%）；复现命令：python test/run_smoke_test.py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六、测试用例设计（5 个）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覆盖正常、未覆盖、超范围三类场景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94413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4205"/>
                <a:gridCol w="5901284"/>
                <a:gridCol w="1416308"/>
                <a:gridCol w="2832616"/>
              </a:tblGrid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问题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R1~R6 结果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T1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什么是直接相联、全相联和组相联？它们有什么区别？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正常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全部通过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指令流水线的数据相关会带来什么冲突？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正常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全部通过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TLB 地址翻译的过程是怎样的？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正常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全部通过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量子纠缠在量子计算芯片中如何实现纠错？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未覆盖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全部通过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请帮我写一份 Java 的冒泡排序代码。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超范围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全部通过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微软雅黑"/>
                <a:ea typeface="微软雅黑"/>
              </a:rPr>
              <a:t>关键设计：专门设置「教材未覆盖」与「超出教材范围」两类用例，检验系统是否会在无依据时编造答案。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六、关键结果：未覆盖与超范围问题的处理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R2 / R5 的关键证据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9441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808"/>
                <a:gridCol w="4314494"/>
                <a:gridCol w="1232712"/>
                <a:gridCol w="1438164"/>
                <a:gridCol w="3287234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用例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问题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原始命中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相关性闸门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最终行为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T4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量子纠缠在量子计算芯片中如何实现纠错？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拦截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回答「教材未找到相关内容」，未编造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请帮我写一份 Java 的冒泡排序代码。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拦截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回答「教材未找到相关内容」，拒绝作答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91840"/>
            <a:ext cx="11094415" cy="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微软雅黑"/>
                <a:ea typeface="微软雅黑"/>
              </a:rPr>
              <a:t>T5 是测试中发现的一个真实缺陷</a:t>
            </a:r>
          </a:p>
          <a:p>
            <a:pPr lvl="1">
              <a:spcAft>
                <a:spcPts val="400"/>
              </a:spcAft>
            </a:pPr>
            <a:r>
              <a:rPr sz="1250" b="0">
                <a:latin typeface="微软雅黑"/>
                <a:ea typeface="微软雅黑"/>
              </a:rPr>
              <a:t>• FTS5 因「指令」「程序」等词巧合命中 5 条教材片段，系统便据此作答 —— 违反 R2/R5。</a:t>
            </a:r>
          </a:p>
          <a:p>
            <a:pPr>
              <a:spcAft>
                <a:spcPts val="400"/>
              </a:spcAft>
            </a:pPr>
            <a:r>
              <a:rPr sz="1250" b="0">
                <a:latin typeface="微软雅黑"/>
                <a:ea typeface="微软雅黑"/>
              </a:rPr>
              <a:t/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A5F"/>
                </a:solidFill>
                <a:latin typeface="微软雅黑"/>
                <a:ea typeface="微软雅黑"/>
              </a:rPr>
              <a:t>根因：FTS 的「有命中」不等于「相关」，trigram 的 OR 召回天然引入噪声。</a:t>
            </a:r>
          </a:p>
          <a:p>
            <a:pPr lvl="1">
              <a:spcAft>
                <a:spcPts val="400"/>
              </a:spcAft>
            </a:pPr>
            <a:r>
              <a:rPr sz="1250" b="0">
                <a:latin typeface="微软雅黑"/>
                <a:ea typeface="微软雅黑"/>
              </a:rPr>
              <a:t>• 解法：新增相关性闸门 relevance_gate()，按实义关键词覆盖率判定（阈值 0.34）。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2E7D32"/>
                </a:solidFill>
                <a:latin typeface="微软雅黑"/>
                <a:ea typeface="微软雅黑"/>
              </a:rPr>
              <a:t>• 效果：R2 / R5 通过率由 80% 提升至 100%。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七、踩坑与解决（1/2）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这些问题都是通过测试与诊断发现的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41"/>
                <a:gridCol w="2943416"/>
                <a:gridCol w="3849082"/>
                <a:gridCol w="3735874"/>
              </a:tblGrid>
              <a:tr h="4343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问题现象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根因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解决方案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分块出现 50 对 600 token 的半满块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flush() 中「超限即二分」，把 1201 切成 600+600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引入 SPLIT_TOLERANCE=1.12，轻微超限不切分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检索「指令流水线」未命中对应章节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SQL 直接 LIMIT topk(=3)，候选池过小，重排无从发挥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先召回 topk×8（≥40）再二次排序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排序打分失去区分度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BM25 分数集中在 -3~-7，归一化后全部饱和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改用 BM25 相对排名而非绝对值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微软雅黑"/>
                <a:ea typeface="微软雅黑"/>
              </a:rPr>
              <a:t>方法：不靠猜测，而是写诊断脚本复刻主循环、打印每次 flush 的原因与大小，用数据定位根因。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七、踩坑与解决（2/2）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合规性缺陷由自动化测试暴露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9441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041"/>
                <a:gridCol w="3622666"/>
                <a:gridCol w="1471708"/>
                <a:gridCol w="5433999"/>
              </a:tblGrid>
              <a:tr h="4343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问题现象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违反约束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解决方案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提问与教材无关时仍据无关片段作答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R2 / R5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新增相关性闸门 relevance_gate()，按实义关键词覆盖率判定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回答中出现连续 5 句教材原文复制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每片段最多取 2 句、单条截断 160 字符，并过滤页眉/图注残片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页码引用偶有缺失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句内 PDF 硬换行统一折叠为单行后再生成回答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11094415" cy="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F3A5F"/>
                </a:solidFill>
                <a:latin typeface="微软雅黑"/>
                <a:ea typeface="微软雅黑"/>
              </a:rPr>
              <a:t>关于「映象 vs 相联」的一次排查</a:t>
            </a:r>
          </a:p>
          <a:p>
            <a:pPr lvl="1">
              <a:spcAft>
                <a:spcPts val="400"/>
              </a:spcAft>
            </a:pPr>
            <a:r>
              <a:rPr sz="1200" b="0">
                <a:latin typeface="微软雅黑"/>
                <a:ea typeface="微软雅黑"/>
              </a:rPr>
              <a:t>• 用户问「Cache 的映象方式」，教材实际用「相联」。先验证教材是否覆盖：</a:t>
            </a:r>
          </a:p>
          <a:p>
            <a:pPr lvl="1">
              <a:spcAft>
                <a:spcPts val="400"/>
              </a:spcAft>
            </a:pPr>
            <a:r>
              <a:rPr sz="1200" b="0">
                <a:latin typeface="微软雅黑"/>
                <a:ea typeface="微软雅黑"/>
              </a:rPr>
              <a:t>• 教材含 '映象' → 0 块；含 '直接相联' → 3 块。内容存在，只是用词不同。</a:t>
            </a:r>
          </a:p>
          <a:p>
            <a:pPr lvl="1">
              <a:spcAft>
                <a:spcPts val="400"/>
              </a:spcAft>
            </a:pPr>
            <a:r>
              <a:rPr sz="1200" b="0">
                <a:solidFill>
                  <a:srgbClr val="2E7D32"/>
                </a:solidFill>
                <a:latin typeface="微软雅黑"/>
                <a:ea typeface="微软雅黑"/>
              </a:rPr>
              <a:t>• 解法：内置体系结构术语同义词表，查询时自动扩展。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八、成果汇总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全部交付物均已完成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441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583"/>
                <a:gridCol w="3657499"/>
                <a:gridCol w="5608165"/>
                <a:gridCol w="1219166"/>
              </a:tblGrid>
              <a:tr h="40005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#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交付物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文件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状态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知识库 + 构建脚本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data/arch_kb.sqlite + scripts/01~03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检索工具源码 + 调用说明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scripts/knowledge_search.py + agents/README.md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系统提示词 + 设计说明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prompts/system_prompt.txt + .md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智能体配置 + 启动说明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agents/agent.config.json + README.md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测试报告（DOCX）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deliverables/Arch-Tutor_测试报告.docx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实施过程 PPT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deliverables/Arch-Tutor_实施过程.pptx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小组分工说明（DOCX）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deliverables/Arch-Tutor_小组分工说明.docx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已完成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8064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55555"/>
                </a:solidFill>
                <a:latin typeface="微软雅黑"/>
                <a:ea typeface="微软雅黑"/>
              </a:rPr>
              <a:t>核心数据：277 个知识块（97.5% 落在 800~1200 tokens）、章节覆盖率 100%、检索 Top-3 90%、R1~R6 核查 30/30 通过。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2772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九、不足与展望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87552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E6DA4"/>
                </a:solidFill>
                <a:latin typeface="微软雅黑"/>
                <a:ea typeface="微软雅黑"/>
              </a:rPr>
              <a:t>诚实评估 + 后续改进方向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不足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离线模式为抽取式生成，语言组织不如 LLM 自然（但胜在确定、可验证）。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trigram 要求查询词 ≥3 字符，2 字查询依赖同义词表覆盖。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检索为纯全文检索，尚未引入语义向量，同义改写的召回有限。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11094415" cy="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F3A5F"/>
                </a:solidFill>
                <a:latin typeface="微软雅黑"/>
                <a:ea typeface="微软雅黑"/>
              </a:rPr>
              <a:t>展望（对应作业拓展挑战）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混合检索：全文 + 向量，融合排序，提升语义召回。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重排序：引入 cross-encoder 对初检结果二次排序。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多轮对话：支持「它」「该协议」等指代消解。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知识库增量更新：支持追加新章节或新教材。</a:t>
            </a:r>
          </a:p>
          <a:p>
            <a:pPr lvl="1">
              <a:spcAft>
                <a:spcPts val="500"/>
              </a:spcAft>
            </a:pPr>
            <a:r>
              <a:rPr sz="1300" b="0">
                <a:latin typeface="微软雅黑"/>
                <a:ea typeface="微软雅黑"/>
              </a:rPr>
              <a:t>• 可视化界面：为智能体添加 Web UI，展示检索与引用过程。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微软雅黑"/>
                <a:ea typeface="微软雅黑"/>
              </a:rPr>
              <a:t>谢谢！欢迎提问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D6E4F0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728655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555555"/>
                </a:solidFill>
                <a:latin typeface="微软雅黑"/>
                <a:ea typeface="微软雅黑"/>
              </a:rPr>
              <a:t>复现入口：</a:t>
            </a:r>
          </a:p>
          <a:p>
            <a:r>
              <a:rPr sz="1500" b="0">
                <a:solidFill>
                  <a:srgbClr val="555555"/>
                </a:solidFill>
                <a:latin typeface="微软雅黑"/>
                <a:ea typeface="微软雅黑"/>
              </a:rPr>
              <a:t>建库  python scripts/01~03_*.py</a:t>
            </a:r>
          </a:p>
          <a:p>
            <a:r>
              <a:rPr sz="1500" b="0">
                <a:solidFill>
                  <a:srgbClr val="555555"/>
                </a:solidFill>
                <a:latin typeface="微软雅黑"/>
                <a:ea typeface="微软雅黑"/>
              </a:rPr>
              <a:t>验证  python scripts/04_verify_kb.py</a:t>
            </a:r>
          </a:p>
          <a:p>
            <a:r>
              <a:rPr sz="1500" b="0">
                <a:solidFill>
                  <a:srgbClr val="555555"/>
                </a:solidFill>
                <a:latin typeface="微软雅黑"/>
                <a:ea typeface="微软雅黑"/>
              </a:rPr>
              <a:t>问答  python agents/arch_tutor_agent.py "你的问题" --offline</a:t>
            </a:r>
          </a:p>
          <a:p>
            <a:r>
              <a:rPr sz="1500" b="0">
                <a:solidFill>
                  <a:srgbClr val="555555"/>
                </a:solidFill>
                <a:latin typeface="微软雅黑"/>
                <a:ea typeface="微软雅黑"/>
              </a:rPr>
              <a:t>合规  python test/run_smoke_test.py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